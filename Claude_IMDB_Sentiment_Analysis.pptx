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17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B15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B9B7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Logistic
Regression</c:v>
                  </c:pt>
                  <c:pt idx="1">
                    <c:v>Naive
Bayes</c:v>
                  </c:pt>
                  <c:pt idx="2">
                    <c:v>Random
Forest</c:v>
                  </c:pt>
                  <c:pt idx="3">
                    <c:v>Ensemble
(majority vote)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88.43</c:v>
                </c:pt>
                <c:pt idx="1">
                  <c:v>84.95</c:v>
                </c:pt>
                <c:pt idx="2">
                  <c:v>83.53</c:v>
                </c:pt>
                <c:pt idx="3">
                  <c:v>87.54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617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Accuracy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A9367"/>
                </a:solidFill>
                <a:latin typeface="Arial"/>
              </a:defRPr>
            </a:pPr>
            <a:r>
              <a:rPr sz="1300" b="0" i="0" u="none" strike="noStrike">
                <a:solidFill>
                  <a:srgbClr val="5A9367"/>
                </a:solidFill>
                <a:latin typeface="Arial"/>
              </a:rPr>
              <a:t>Pushes toward POSITIVE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 weight</c:v>
                </c:pt>
              </c:strCache>
            </c:strRef>
          </c:tx>
          <c:spPr>
            <a:solidFill>
              <a:srgbClr val="5A93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hilarious</c:v>
                  </c:pt>
                  <c:pt idx="1">
                    <c:v>loved</c:v>
                  </c:pt>
                  <c:pt idx="2">
                    <c:v>wonderful</c:v>
                  </c:pt>
                  <c:pt idx="3">
                    <c:v>best</c:v>
                  </c:pt>
                  <c:pt idx="4">
                    <c:v>amazing</c:v>
                  </c:pt>
                  <c:pt idx="5">
                    <c:v>perfect</c:v>
                  </c:pt>
                  <c:pt idx="6">
                    <c:v>excellent</c:v>
                  </c:pt>
                  <c:pt idx="7">
                    <c:v>great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4.4</c:v>
                </c:pt>
                <c:pt idx="1">
                  <c:v>4.49</c:v>
                </c:pt>
                <c:pt idx="2">
                  <c:v>4.54</c:v>
                </c:pt>
                <c:pt idx="3">
                  <c:v>4.87</c:v>
                </c:pt>
                <c:pt idx="4">
                  <c:v>5.02</c:v>
                </c:pt>
                <c:pt idx="5">
                  <c:v>5.12</c:v>
                </c:pt>
                <c:pt idx="6">
                  <c:v>6.7</c:v>
                </c:pt>
                <c:pt idx="7">
                  <c:v>6.85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C6544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C6544A"/>
                </a:solidFill>
                <a:latin typeface="Arial"/>
              </a:rPr>
              <a:t>Pushes toward NEGATIVE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Negative weight</c:v>
                </c:pt>
              </c:strCache>
            </c:strRef>
          </c:tx>
          <c:spPr>
            <a:solidFill>
              <a:srgbClr val="C654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dull</c:v>
                  </c:pt>
                  <c:pt idx="1">
                    <c:v>terrible</c:v>
                  </c:pt>
                  <c:pt idx="2">
                    <c:v>poorly</c:v>
                  </c:pt>
                  <c:pt idx="3">
                    <c:v>boring</c:v>
                  </c:pt>
                  <c:pt idx="4">
                    <c:v>bad</c:v>
                  </c:pt>
                  <c:pt idx="5">
                    <c:v>awful</c:v>
                  </c:pt>
                  <c:pt idx="6">
                    <c:v>waste</c:v>
                  </c:pt>
                  <c:pt idx="7">
                    <c:v>worst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5.36</c:v>
                </c:pt>
                <c:pt idx="1">
                  <c:v>5.38</c:v>
                </c:pt>
                <c:pt idx="2">
                  <c:v>5.45</c:v>
                </c:pt>
                <c:pt idx="3">
                  <c:v>6.2</c:v>
                </c:pt>
                <c:pt idx="4">
                  <c:v>6.95</c:v>
                </c:pt>
                <c:pt idx="5">
                  <c:v>7.81</c:v>
                </c:pt>
                <c:pt idx="6">
                  <c:v>8.31</c:v>
                </c:pt>
                <c:pt idx="7">
                  <c:v>9.87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572000"/>
            <a:ext cx="4572000" cy="45720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031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B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IMDB MOVIE REVIEWS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 Analysis: Trends &amp; Model Results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977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reviews · TF-IDF features · Logistic Regression, Naive Bayes, Random Forest &amp; LDA topic modeling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512064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8B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</a:t>
            </a:r>
            <a:endParaRPr lang="en-US" sz="3000" dirty="0"/>
          </a:p>
          <a:p>
            <a:pPr indent="0" marL="0">
              <a:buNone/>
            </a:pPr>
            <a:r>
              <a:rPr lang="en-US" sz="12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analyzed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017520" y="51206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8B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88.4%</a:t>
            </a:r>
            <a:endParaRPr lang="en-US" sz="3000" dirty="0"/>
          </a:p>
          <a:p>
            <a:pPr indent="0" marL="0">
              <a:buNone/>
            </a:pPr>
            <a:r>
              <a:rPr lang="en-US" sz="12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accuracy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577840" y="51206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8B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  <a:p>
            <a:pPr indent="0" marL="0">
              <a:buNone/>
            </a:pPr>
            <a:r>
              <a:rPr lang="en-US" sz="12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topics discovered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138160" y="51206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8B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</a:t>
            </a:r>
            <a:endParaRPr lang="en-US" sz="3000" dirty="0"/>
          </a:p>
          <a:p>
            <a:pPr indent="0" marL="0">
              <a:buNone/>
            </a:pPr>
            <a:r>
              <a:rPr lang="en-US" sz="12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vocabulary terms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perfectly balanced benchmark for binary sentiment classification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291840" cy="2743200"/>
          </a:xfrm>
          <a:prstGeom prst="roundRect">
            <a:avLst>
              <a:gd name="adj" fmla="val 2667"/>
            </a:avLst>
          </a:prstGeom>
          <a:solidFill>
            <a:srgbClr val="5A9367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031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25,000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REVIEWS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474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of dataset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06240" y="1645920"/>
            <a:ext cx="3291840" cy="2743200"/>
          </a:xfrm>
          <a:prstGeom prst="roundRect">
            <a:avLst>
              <a:gd name="adj" fmla="val 2667"/>
            </a:avLst>
          </a:prstGeom>
          <a:solidFill>
            <a:srgbClr val="C6544A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06240" y="21031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25,000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206240" y="3017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REVIEWS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06240" y="3474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C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of dataset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955280" y="16459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PIPELINE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5280" y="2057400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0" y="20574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12480" y="203911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 &amp; strip HTML tags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55280" y="2587752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0" y="25877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12480" y="256946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non-alphabetic characters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955280" y="3118104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955280" y="31181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12480" y="309981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 &amp; remove stopwords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955280" y="364845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7955280" y="36484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12480" y="363016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vectorize (3,000 terms)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955280" y="4178808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7955280" y="4178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12480" y="416052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 train-test split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IMDB Dataset of 50K Movie Reviews (Kaggle)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classification approaches, evaluated on a held-out 20% test set (10,000 reviews)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463040"/>
            <a:ext cx="3749040" cy="1600200"/>
          </a:xfrm>
          <a:prstGeom prst="roundRect">
            <a:avLst>
              <a:gd name="adj" fmla="val 4571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8138160" y="16276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138160" y="18745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138160" y="2331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88.4% accuracy · 0.954 ROC-AUC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863840" y="3337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BY MODEL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863840" y="3703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241280" y="3703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0.954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863840" y="408736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0241280" y="40873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0.926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863840" y="447141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0241280" y="447141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0.920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863840" y="507492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ensemble slightly trades peak accuracy for more balanced, robust predictions across models.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Each Model Gets Confused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matrices on the 10,000-review test set (rows = actual, columns = predicted)</a:t>
            </a:r>
            <a:endParaRPr lang="en-US" sz="1400" dirty="0"/>
          </a:p>
        </p:txBody>
      </p:sp>
      <p:pic>
        <p:nvPicPr>
          <p:cNvPr id="4" name="Image 0" descr="confusion_matri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54480"/>
            <a:ext cx="1097280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572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</a:t>
            </a:r>
            <a:pPr indent="0" marL="0">
              <a:buNone/>
            </a:pPr>
            <a:r>
              <a:rPr lang="en-US" sz="1350" dirty="0">
                <a:solidFill>
                  <a:srgbClr val="3A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the fewest total errors (1,157 of 10,000) and the most balanced error split between false positives and false negatives.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22960" y="5074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</a:t>
            </a:r>
            <a:pPr indent="0" marL="0">
              <a:buNone/>
            </a:pPr>
            <a:r>
              <a:rPr lang="en-US" sz="1350" dirty="0">
                <a:solidFill>
                  <a:srgbClr val="3A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largest asymmetry — it misses more true positives (986 false negatives) than it does true negatives, suggesting a mild bias toward predicting “positive.”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22960" y="57150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B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</a:t>
            </a:r>
            <a:pPr indent="0" marL="0">
              <a:buNone/>
            </a:pPr>
            <a:r>
              <a:rPr lang="en-US" sz="1350" dirty="0">
                <a:solidFill>
                  <a:srgbClr val="3A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between the two, trading some accuracy for its much faster training time — a classic speed/accuracy tradeoff for this feature space.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7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Words That Drive Sentiment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cumulative TF-IDF weight, split by review sentiment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4480560"/>
          </a:xfrm>
          <a:prstGeom prst="roundRect">
            <a:avLst>
              <a:gd name="adj" fmla="val 1224"/>
            </a:avLst>
          </a:prstGeom>
          <a:solidFill>
            <a:srgbClr val="1F203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5A9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REVIEWS</a:t>
            </a:r>
            <a:endParaRPr lang="en-US" sz="1300" dirty="0"/>
          </a:p>
        </p:txBody>
      </p:sp>
      <p:pic>
        <p:nvPicPr>
          <p:cNvPr id="6" name="Image 0" descr="wordcloud_posit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11680"/>
            <a:ext cx="4846320" cy="3566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17920" y="1463040"/>
            <a:ext cx="5394960" cy="4480560"/>
          </a:xfrm>
          <a:prstGeom prst="roundRect">
            <a:avLst>
              <a:gd name="adj" fmla="val 1224"/>
            </a:avLst>
          </a:prstGeom>
          <a:solidFill>
            <a:srgbClr val="1F2038"/>
          </a:solidFill>
          <a:ln/>
        </p:spPr>
      </p:sp>
      <p:sp>
        <p:nvSpPr>
          <p:cNvPr id="8" name="Text 5"/>
          <p:cNvSpPr/>
          <p:nvPr/>
        </p:nvSpPr>
        <p:spPr>
          <a:xfrm>
            <a:off x="6217920" y="16459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REVIEWS</a:t>
            </a:r>
            <a:endParaRPr lang="en-US" sz="1300" dirty="0"/>
          </a:p>
        </p:txBody>
      </p:sp>
      <p:pic>
        <p:nvPicPr>
          <p:cNvPr id="9" name="Image 1" descr="wordcloud_negati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11680"/>
            <a:ext cx="4846320" cy="35661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positive drivers: great, excellent, perfect, amazing, best  ·  Top negative drivers: worst, waste, awful, bad, boring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Strongest Sentiment Signals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coefficients — how strongly each term pushes a prediction toward positive or negative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463040"/>
          <a:ext cx="566928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17920" y="1463040"/>
          <a:ext cx="566928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Reviewers Actually Talk About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latent topics from LDA topic modeling, colored by how positively each topic skews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9748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E0DED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459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636776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 &amp; characters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13232" y="2103120"/>
            <a:ext cx="23682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film, story, life, films, book, people, time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3232" y="3337560"/>
            <a:ext cx="2368296" cy="128016"/>
          </a:xfrm>
          <a:prstGeom prst="rect">
            <a:avLst/>
          </a:prstGeom>
          <a:solidFill>
            <a:srgbClr val="EDEBE4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" y="3337560"/>
            <a:ext cx="1843501" cy="128016"/>
          </a:xfrm>
          <a:prstGeom prst="rect">
            <a:avLst/>
          </a:prstGeom>
          <a:solidFill>
            <a:srgbClr val="5A9367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3493008"/>
            <a:ext cx="2368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positive  ·  n=5,641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83280" y="1508760"/>
            <a:ext cx="269748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E0DED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20440" y="16459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77640" y="1636776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performances &amp; genre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547872" y="2103120"/>
            <a:ext cx="23682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film, films, best, john, star, role, game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547872" y="3337560"/>
            <a:ext cx="2368296" cy="128016"/>
          </a:xfrm>
          <a:prstGeom prst="rect">
            <a:avLst/>
          </a:prstGeom>
          <a:solidFill>
            <a:srgbClr val="EDEBE4"/>
          </a:solidFill>
          <a:ln/>
        </p:spPr>
      </p:sp>
      <p:sp>
        <p:nvSpPr>
          <p:cNvPr id="18" name="Shape 16"/>
          <p:cNvSpPr/>
          <p:nvPr/>
        </p:nvSpPr>
        <p:spPr>
          <a:xfrm>
            <a:off x="3547872" y="3337560"/>
            <a:ext cx="1722193" cy="128016"/>
          </a:xfrm>
          <a:prstGeom prst="rect">
            <a:avLst/>
          </a:prstGeom>
          <a:solidFill>
            <a:srgbClr val="5A9367"/>
          </a:solidFill>
          <a:ln/>
        </p:spPr>
      </p:sp>
      <p:sp>
        <p:nvSpPr>
          <p:cNvPr id="19" name="Text 17"/>
          <p:cNvSpPr/>
          <p:nvPr/>
        </p:nvSpPr>
        <p:spPr>
          <a:xfrm>
            <a:off x="3547872" y="3493008"/>
            <a:ext cx="2368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positive  ·  n=2,115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17920" y="1508760"/>
            <a:ext cx="269748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E0DED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55080" y="16459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12280" y="1636776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/ mixed reactions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382512" y="2103120"/>
            <a:ext cx="23682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movie, just, like, really, little, girl, good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82512" y="3337560"/>
            <a:ext cx="2368296" cy="128016"/>
          </a:xfrm>
          <a:prstGeom prst="rect">
            <a:avLst/>
          </a:prstGeom>
          <a:solidFill>
            <a:srgbClr val="EDEBE4"/>
          </a:solidFill>
          <a:ln/>
        </p:spPr>
      </p:sp>
      <p:sp>
        <p:nvSpPr>
          <p:cNvPr id="26" name="Shape 24"/>
          <p:cNvSpPr/>
          <p:nvPr/>
        </p:nvSpPr>
        <p:spPr>
          <a:xfrm>
            <a:off x="6382512" y="3337560"/>
            <a:ext cx="1151140" cy="128016"/>
          </a:xfrm>
          <a:prstGeom prst="rect">
            <a:avLst/>
          </a:prstGeom>
          <a:solidFill>
            <a:srgbClr val="C6544A"/>
          </a:solidFill>
          <a:ln/>
        </p:spPr>
      </p:sp>
      <p:sp>
        <p:nvSpPr>
          <p:cNvPr id="27" name="Text 25"/>
          <p:cNvSpPr/>
          <p:nvPr/>
        </p:nvSpPr>
        <p:spPr>
          <a:xfrm>
            <a:off x="6382512" y="3493008"/>
            <a:ext cx="2368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 positive  ·  n=5,417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052560" y="1508760"/>
            <a:ext cx="269748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E0DED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189720" y="16459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918972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646920" y="1636776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Enthusiastic praise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217152" y="2103120"/>
            <a:ext cx="23682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great, movie, good, series, love, best, story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217152" y="3337560"/>
            <a:ext cx="2368296" cy="128016"/>
          </a:xfrm>
          <a:prstGeom prst="rect">
            <a:avLst/>
          </a:prstGeom>
          <a:solidFill>
            <a:srgbClr val="EDEBE4"/>
          </a:solidFill>
          <a:ln/>
        </p:spPr>
      </p:sp>
      <p:sp>
        <p:nvSpPr>
          <p:cNvPr id="34" name="Shape 32"/>
          <p:cNvSpPr/>
          <p:nvPr/>
        </p:nvSpPr>
        <p:spPr>
          <a:xfrm>
            <a:off x="9217152" y="3337560"/>
            <a:ext cx="2016631" cy="128016"/>
          </a:xfrm>
          <a:prstGeom prst="rect">
            <a:avLst/>
          </a:prstGeom>
          <a:solidFill>
            <a:srgbClr val="5A9367"/>
          </a:solidFill>
          <a:ln/>
        </p:spPr>
      </p:sp>
      <p:sp>
        <p:nvSpPr>
          <p:cNvPr id="35" name="Text 33"/>
          <p:cNvSpPr/>
          <p:nvPr/>
        </p:nvSpPr>
        <p:spPr>
          <a:xfrm>
            <a:off x="9217152" y="3493008"/>
            <a:ext cx="2368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positive  ·  n=6,418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8640" y="4023360"/>
            <a:ext cx="269748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E0DED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85800" y="41605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" y="4160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143000" y="4151376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&amp; family drama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13232" y="4617720"/>
            <a:ext cx="23682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man, war, life, wife, world, woman, young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13232" y="5852160"/>
            <a:ext cx="2368296" cy="128016"/>
          </a:xfrm>
          <a:prstGeom prst="rect">
            <a:avLst/>
          </a:prstGeom>
          <a:solidFill>
            <a:srgbClr val="EDEBE4"/>
          </a:solidFill>
          <a:ln/>
        </p:spPr>
      </p:sp>
      <p:sp>
        <p:nvSpPr>
          <p:cNvPr id="42" name="Shape 40"/>
          <p:cNvSpPr/>
          <p:nvPr/>
        </p:nvSpPr>
        <p:spPr>
          <a:xfrm>
            <a:off x="713232" y="5852160"/>
            <a:ext cx="1552640" cy="128016"/>
          </a:xfrm>
          <a:prstGeom prst="rect">
            <a:avLst/>
          </a:prstGeom>
          <a:solidFill>
            <a:srgbClr val="5A9367"/>
          </a:solidFill>
          <a:ln/>
        </p:spPr>
      </p:sp>
      <p:sp>
        <p:nvSpPr>
          <p:cNvPr id="43" name="Text 41"/>
          <p:cNvSpPr/>
          <p:nvPr/>
        </p:nvSpPr>
        <p:spPr>
          <a:xfrm>
            <a:off x="713232" y="6007608"/>
            <a:ext cx="2368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66% positive  ·  n=4,666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383280" y="4023360"/>
            <a:ext cx="269748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E0DED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520440" y="41605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6" name="Text 44"/>
          <p:cNvSpPr/>
          <p:nvPr/>
        </p:nvSpPr>
        <p:spPr>
          <a:xfrm>
            <a:off x="3520440" y="4160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3977640" y="4151376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Horror &amp; plot criticism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3547872" y="4617720"/>
            <a:ext cx="23682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film, plot, films, good, just, horror, acting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547872" y="5852160"/>
            <a:ext cx="2368296" cy="128016"/>
          </a:xfrm>
          <a:prstGeom prst="rect">
            <a:avLst/>
          </a:prstGeom>
          <a:solidFill>
            <a:srgbClr val="EDEBE4"/>
          </a:solidFill>
          <a:ln/>
        </p:spPr>
      </p:sp>
      <p:sp>
        <p:nvSpPr>
          <p:cNvPr id="50" name="Shape 48"/>
          <p:cNvSpPr/>
          <p:nvPr/>
        </p:nvSpPr>
        <p:spPr>
          <a:xfrm>
            <a:off x="3547872" y="5852160"/>
            <a:ext cx="641938" cy="128016"/>
          </a:xfrm>
          <a:prstGeom prst="rect">
            <a:avLst/>
          </a:prstGeom>
          <a:solidFill>
            <a:srgbClr val="C6544A"/>
          </a:solidFill>
          <a:ln/>
        </p:spPr>
      </p:sp>
      <p:sp>
        <p:nvSpPr>
          <p:cNvPr id="51" name="Text 49"/>
          <p:cNvSpPr/>
          <p:nvPr/>
        </p:nvSpPr>
        <p:spPr>
          <a:xfrm>
            <a:off x="3547872" y="6007608"/>
            <a:ext cx="2368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 positive  ·  n=10,544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217920" y="4023360"/>
            <a:ext cx="269748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E0DED8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355080" y="41605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4" name="Text 52"/>
          <p:cNvSpPr/>
          <p:nvPr/>
        </p:nvSpPr>
        <p:spPr>
          <a:xfrm>
            <a:off x="6355080" y="4160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6812280" y="4151376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negative takes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6382512" y="4617720"/>
            <a:ext cx="23682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movie, like, just, bad, movies, dont, really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382512" y="5852160"/>
            <a:ext cx="2368296" cy="128016"/>
          </a:xfrm>
          <a:prstGeom prst="rect">
            <a:avLst/>
          </a:prstGeom>
          <a:solidFill>
            <a:srgbClr val="EDEBE4"/>
          </a:solidFill>
          <a:ln/>
        </p:spPr>
      </p:sp>
      <p:sp>
        <p:nvSpPr>
          <p:cNvPr id="58" name="Shape 56"/>
          <p:cNvSpPr/>
          <p:nvPr/>
        </p:nvSpPr>
        <p:spPr>
          <a:xfrm>
            <a:off x="6382512" y="5852160"/>
            <a:ext cx="787822" cy="128016"/>
          </a:xfrm>
          <a:prstGeom prst="rect">
            <a:avLst/>
          </a:prstGeom>
          <a:solidFill>
            <a:srgbClr val="C6544A"/>
          </a:solidFill>
          <a:ln/>
        </p:spPr>
      </p:sp>
      <p:sp>
        <p:nvSpPr>
          <p:cNvPr id="59" name="Text 57"/>
          <p:cNvSpPr/>
          <p:nvPr/>
        </p:nvSpPr>
        <p:spPr>
          <a:xfrm>
            <a:off x="6382512" y="6007608"/>
            <a:ext cx="2368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 positive  ·  n=15,199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7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5212080" cy="2331720"/>
          </a:xfrm>
          <a:prstGeom prst="roundRect">
            <a:avLst>
              <a:gd name="adj" fmla="val 3137"/>
            </a:avLst>
          </a:prstGeom>
          <a:solidFill>
            <a:srgbClr val="1F2038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459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B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05840" y="21945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models win here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65176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on TF-IDF features (88.4% accuracy, 0.954 AUC) outperformed both Naive Bayes and a 200-tree Random Forest — sentiment in this dataset is largely linearly separable.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417320"/>
            <a:ext cx="5212080" cy="2331720"/>
          </a:xfrm>
          <a:prstGeom prst="roundRect">
            <a:avLst>
              <a:gd name="adj" fmla="val 3137"/>
            </a:avLst>
          </a:prstGeom>
          <a:solidFill>
            <a:srgbClr val="1F2038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16459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B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675120" y="21945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words are highly distinctive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265176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"Worst," "waste," and "awful" carry more predictive weight than any positive term, meaning negative reviews are somewhat easier to detect confidently than positive ones.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977640"/>
            <a:ext cx="5212080" cy="2331720"/>
          </a:xfrm>
          <a:prstGeom prst="roundRect">
            <a:avLst>
              <a:gd name="adj" fmla="val 3137"/>
            </a:avLst>
          </a:prstGeom>
          <a:solidFill>
            <a:srgbClr val="1F2038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2062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B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005840" y="47548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Horror &amp; casual reviews skew negative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521208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dominated by "horror / plot / acting" and casual "just / like / bad" language have the lowest positive rates (27–33%), while enthusiastic "great / love / best" language topics run 85%+ positive.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3977640"/>
            <a:ext cx="5212080" cy="2331720"/>
          </a:xfrm>
          <a:prstGeom prst="roundRect">
            <a:avLst>
              <a:gd name="adj" fmla="val 3137"/>
            </a:avLst>
          </a:prstGeom>
          <a:solidFill>
            <a:srgbClr val="1F2038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42062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B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675120" y="47548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ensemble adds robustness, not accuracy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75120" y="521208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voting across all three models (87.5%) landed between Logistic Regression and Naive Bayes — useful for stability, but it doesn't beat the best single model here.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IMDB Sentiment Analysis</dc:title>
  <dc:subject>PptxGenJS Presentation</dc:subject>
  <dc:creator>Sentiment Analysis Model</dc:creator>
  <cp:lastModifiedBy>Sentiment Analysis Model</cp:lastModifiedBy>
  <cp:revision>1</cp:revision>
  <dcterms:created xsi:type="dcterms:W3CDTF">2026-07-08T04:55:36Z</dcterms:created>
  <dcterms:modified xsi:type="dcterms:W3CDTF">2026-07-08T04:55:36Z</dcterms:modified>
</cp:coreProperties>
</file>